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Subtítulo"/>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17" name="16 Marcador de pie de página"/>
          <p:cNvSpPr>
            <a:spLocks noGrp="1"/>
          </p:cNvSpPr>
          <p:nvPr>
            <p:ph type="ftr" sz="quarter" idx="11"/>
          </p:nvPr>
        </p:nvSpPr>
        <p:spPr/>
        <p:txBody>
          <a:bodyPr/>
          <a:lstStyle/>
          <a:p>
            <a:endParaRPr lang="es-AR"/>
          </a:p>
        </p:txBody>
      </p:sp>
      <p:sp>
        <p:nvSpPr>
          <p:cNvPr id="7" name="6 Conector recto"/>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12 Elipse"/>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Elipse"/>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28 Marcador de número de diapositiva"/>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E4CB56CF-BD53-4841-9DAB-200E126729B3}" type="slidenum">
              <a:rPr lang="es-AR" smtClean="0"/>
              <a:pPr/>
              <a:t>‹Nº›</a:t>
            </a:fld>
            <a:endParaRPr lang="es-AR"/>
          </a:p>
        </p:txBody>
      </p:sp>
      <p:sp>
        <p:nvSpPr>
          <p:cNvPr id="8" name="7 Título"/>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solidFill>
                  <a:schemeClr val="accent3">
                    <a:shade val="75000"/>
                  </a:schemeClr>
                </a:solidFill>
              </a:defRPr>
            </a:lvl1p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a:xfrm>
            <a:off x="4361688" y="1026372"/>
            <a:ext cx="457200" cy="441325"/>
          </a:xfrm>
        </p:spPr>
        <p:txBody>
          <a:bodyPr/>
          <a:lstStyle/>
          <a:p>
            <a:fld id="{E4CB56CF-BD53-4841-9DAB-200E126729B3}" type="slidenum">
              <a:rPr lang="es-AR" smtClean="0"/>
              <a:pPr/>
              <a:t>‹Nº›</a:t>
            </a:fld>
            <a:endParaRPr lang="es-AR"/>
          </a:p>
        </p:txBody>
      </p:sp>
      <p:sp>
        <p:nvSpPr>
          <p:cNvPr id="8" name="7 Marcador de contenido"/>
          <p:cNvSpPr>
            <a:spLocks noGrp="1"/>
          </p:cNvSpPr>
          <p:nvPr>
            <p:ph sz="quarter" idx="1"/>
          </p:nvPr>
        </p:nvSpPr>
        <p:spPr>
          <a:xfrm>
            <a:off x="301752" y="1527048"/>
            <a:ext cx="850392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2 Marcador de texto"/>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13" name="12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13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4 Marcador de pie de página"/>
          <p:cNvSpPr>
            <a:spLocks noGrp="1"/>
          </p:cNvSpPr>
          <p:nvPr>
            <p:ph type="ftr" sz="quarter" idx="11"/>
          </p:nvPr>
        </p:nvSpPr>
        <p:spPr/>
        <p:txBody>
          <a:bodyPr/>
          <a:lstStyle/>
          <a:p>
            <a:endParaRPr lang="es-AR"/>
          </a:p>
        </p:txBody>
      </p:sp>
      <p:sp>
        <p:nvSpPr>
          <p:cNvPr id="4" name="3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8" name="7 Conector recto"/>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Elipse"/>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Elipse"/>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E4CB56CF-BD53-4841-9DAB-200E126729B3}" type="slidenum">
              <a:rPr lang="es-AR" smtClean="0"/>
              <a:pPr/>
              <a:t>‹Nº›</a:t>
            </a:fld>
            <a:endParaRPr lang="es-AR"/>
          </a:p>
        </p:txBody>
      </p:sp>
      <p:sp>
        <p:nvSpPr>
          <p:cNvPr id="2" name="1 Título"/>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301752" y="228600"/>
            <a:ext cx="8534400" cy="758952"/>
          </a:xfrm>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a:xfrm>
            <a:off x="5791200" y="6409944"/>
            <a:ext cx="3044952" cy="365760"/>
          </a:xfrm>
        </p:spPr>
        <p:txBody>
          <a:bodyPr/>
          <a:lstStyle/>
          <a:p>
            <a:fld id="{13A4E439-02DF-499A-A1A7-6958192070CD}" type="datetimeFigureOut">
              <a:rPr lang="es-AR" smtClean="0"/>
              <a:pPr/>
              <a:t>19/4/2019</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E4CB56CF-BD53-4841-9DAB-200E126729B3}" type="slidenum">
              <a:rPr lang="es-AR" smtClean="0"/>
              <a:pPr/>
              <a:t>‹Nº›</a:t>
            </a:fld>
            <a:endParaRPr lang="es-AR"/>
          </a:p>
        </p:txBody>
      </p:sp>
      <p:sp>
        <p:nvSpPr>
          <p:cNvPr id="8" name="7 Conector recto"/>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9 Marcador de contenido"/>
          <p:cNvSpPr>
            <a:spLocks noGrp="1"/>
          </p:cNvSpPr>
          <p:nvPr>
            <p:ph sz="half" idx="1"/>
          </p:nvPr>
        </p:nvSpPr>
        <p:spPr>
          <a:xfrm>
            <a:off x="301752" y="1371600"/>
            <a:ext cx="4038600" cy="4681728"/>
          </a:xfrm>
        </p:spPr>
        <p:txBody>
          <a:bodyPr/>
          <a:lstStyle>
            <a:lvl1pPr>
              <a:defRPr sz="2500"/>
            </a:lvl1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contenido"/>
          <p:cNvSpPr>
            <a:spLocks noGrp="1"/>
          </p:cNvSpPr>
          <p:nvPr>
            <p:ph sz="half" idx="2"/>
          </p:nvPr>
        </p:nvSpPr>
        <p:spPr>
          <a:xfrm>
            <a:off x="4800600" y="1371600"/>
            <a:ext cx="4038600" cy="4681728"/>
          </a:xfrm>
        </p:spPr>
        <p:txBody>
          <a:bodyPr/>
          <a:lstStyle>
            <a:lvl1pPr>
              <a:defRPr sz="2500"/>
            </a:lvl1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1">
        <a:schemeClr val="bg2"/>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19 Rectángulo"/>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20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21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10 Rectángulo"/>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2 Marcador de texto"/>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8" name="7 Marcador de pie de página"/>
          <p:cNvSpPr>
            <a:spLocks noGrp="1"/>
          </p:cNvSpPr>
          <p:nvPr>
            <p:ph type="ftr" sz="quarter" idx="11"/>
          </p:nvPr>
        </p:nvSpPr>
        <p:spPr>
          <a:xfrm>
            <a:off x="304800" y="6409944"/>
            <a:ext cx="3581400" cy="365760"/>
          </a:xfrm>
        </p:spPr>
        <p:txBody>
          <a:bodyPr/>
          <a:lstStyle/>
          <a:p>
            <a:endParaRPr lang="es-AR"/>
          </a:p>
        </p:txBody>
      </p:sp>
      <p:sp>
        <p:nvSpPr>
          <p:cNvPr id="15" name="14 Conector recto"/>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23 Marcador de contenido"/>
          <p:cNvSpPr>
            <a:spLocks noGrp="1"/>
          </p:cNvSpPr>
          <p:nvPr>
            <p:ph sz="quarter" idx="2"/>
          </p:nvPr>
        </p:nvSpPr>
        <p:spPr>
          <a:xfrm>
            <a:off x="301752" y="2471383"/>
            <a:ext cx="4041648" cy="3818404"/>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6" name="25 Marcador de contenido"/>
          <p:cNvSpPr>
            <a:spLocks noGrp="1"/>
          </p:cNvSpPr>
          <p:nvPr>
            <p:ph sz="quarter" idx="4"/>
          </p:nvPr>
        </p:nvSpPr>
        <p:spPr>
          <a:xfrm>
            <a:off x="4800600" y="2471383"/>
            <a:ext cx="4038600" cy="382219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5" name="24 Elipse"/>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26 Elipse"/>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Marcador de número de diapositiva"/>
          <p:cNvSpPr>
            <a:spLocks noGrp="1"/>
          </p:cNvSpPr>
          <p:nvPr>
            <p:ph type="sldNum" sz="quarter" idx="12"/>
          </p:nvPr>
        </p:nvSpPr>
        <p:spPr>
          <a:xfrm>
            <a:off x="4343400" y="1042416"/>
            <a:ext cx="457200" cy="441325"/>
          </a:xfrm>
        </p:spPr>
        <p:txBody>
          <a:bodyPr/>
          <a:lstStyle>
            <a:lvl1pPr algn="ctr">
              <a:defRPr/>
            </a:lvl1pPr>
          </a:lstStyle>
          <a:p>
            <a:fld id="{E4CB56CF-BD53-4841-9DAB-200E126729B3}" type="slidenum">
              <a:rPr lang="es-AR" smtClean="0"/>
              <a:pPr/>
              <a:t>‹Nº›</a:t>
            </a:fld>
            <a:endParaRPr lang="es-AR"/>
          </a:p>
        </p:txBody>
      </p:sp>
      <p:sp>
        <p:nvSpPr>
          <p:cNvPr id="23" name="22 Título"/>
          <p:cNvSpPr>
            <a:spLocks noGrp="1"/>
          </p:cNvSpPr>
          <p:nvPr>
            <p:ph type="title"/>
          </p:nvPr>
        </p:nvSpPr>
        <p:spPr/>
        <p:txBody>
          <a:bodyPr rtlCol="0" anchor="b" anchorCtr="0"/>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a:xfrm>
            <a:off x="4343400" y="1036020"/>
            <a:ext cx="457200" cy="441325"/>
          </a:xfrm>
        </p:spPr>
        <p:txBody>
          <a:bodyPr/>
          <a:lstStyle/>
          <a:p>
            <a:fld id="{E4CB56CF-BD53-4841-9DAB-200E126729B3}"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5 Rectángulo"/>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1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a:xfrm>
            <a:off x="4267200" y="6324600"/>
            <a:ext cx="609600" cy="441324"/>
          </a:xfrm>
        </p:spPr>
        <p:txBody>
          <a:bodyPr/>
          <a:lstStyle>
            <a:lvl1pPr>
              <a:defRPr>
                <a:solidFill>
                  <a:srgbClr val="FFFFFF"/>
                </a:solidFill>
              </a:defRPr>
            </a:lvl1pPr>
          </a:lstStyle>
          <a:p>
            <a:fld id="{E4CB56CF-BD53-4841-9DAB-200E126729B3}"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9" name="18 Rectángulo"/>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14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16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12 Rectángulo"/>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Rectángulo"/>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8 Conector recto"/>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19 Marcador de contenido"/>
          <p:cNvSpPr>
            <a:spLocks noGrp="1"/>
          </p:cNvSpPr>
          <p:nvPr>
            <p:ph sz="quarter" idx="1"/>
          </p:nvPr>
        </p:nvSpPr>
        <p:spPr>
          <a:xfrm>
            <a:off x="3124200" y="685800"/>
            <a:ext cx="5638800" cy="5410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0" name="9 Elipse"/>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Elipse"/>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Marcador de número de diapositiva"/>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E4CB56CF-BD53-4841-9DAB-200E126729B3}" type="slidenum">
              <a:rPr lang="es-AR" smtClean="0"/>
              <a:pPr/>
              <a:t>‹Nº›</a:t>
            </a:fld>
            <a:endParaRPr lang="es-AR"/>
          </a:p>
        </p:txBody>
      </p:sp>
      <p:sp>
        <p:nvSpPr>
          <p:cNvPr id="21" name="20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6" name="5 Marcador de pie de página"/>
          <p:cNvSpPr>
            <a:spLocks noGrp="1"/>
          </p:cNvSpPr>
          <p:nvPr>
            <p:ph type="ftr" sz="quarter" idx="11"/>
          </p:nvPr>
        </p:nvSpPr>
        <p:spPr>
          <a:xfrm>
            <a:off x="301752" y="6410848"/>
            <a:ext cx="3383280" cy="365760"/>
          </a:xfrm>
        </p:spPr>
        <p:txBody>
          <a:bodyPr/>
          <a:lstStyle/>
          <a:p>
            <a:endParaRPr lang="es-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1" name="20 Conector recto"/>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16 Rectángulo"/>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19 Rectángulo"/>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11 Elipse"/>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Elipse"/>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Marcador de número de diapositiva"/>
          <p:cNvSpPr>
            <a:spLocks noGrp="1"/>
          </p:cNvSpPr>
          <p:nvPr>
            <p:ph type="sldNum" sz="quarter" idx="12"/>
          </p:nvPr>
        </p:nvSpPr>
        <p:spPr>
          <a:xfrm>
            <a:off x="1371600" y="312738"/>
            <a:ext cx="457200" cy="441325"/>
          </a:xfrm>
        </p:spPr>
        <p:txBody>
          <a:bodyPr/>
          <a:lstStyle/>
          <a:p>
            <a:fld id="{E4CB56CF-BD53-4841-9DAB-200E126729B3}" type="slidenum">
              <a:rPr lang="es-AR" smtClean="0"/>
              <a:pPr/>
              <a:t>‹Nº›</a:t>
            </a:fld>
            <a:endParaRPr lang="es-AR"/>
          </a:p>
        </p:txBody>
      </p:sp>
      <p:sp>
        <p:nvSpPr>
          <p:cNvPr id="2" name="1 Título"/>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3000375" y="609600"/>
            <a:ext cx="5867400" cy="4267200"/>
          </a:xfrm>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22" name="21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4 Marcador de fecha"/>
          <p:cNvSpPr>
            <a:spLocks noGrp="1"/>
          </p:cNvSpPr>
          <p:nvPr>
            <p:ph type="dt" sz="half" idx="10"/>
          </p:nvPr>
        </p:nvSpPr>
        <p:spPr>
          <a:xfrm>
            <a:off x="5788152" y="6404984"/>
            <a:ext cx="3044952" cy="365760"/>
          </a:xfrm>
        </p:spPr>
        <p:txBody>
          <a:bodyPr/>
          <a:lstStyle/>
          <a:p>
            <a:fld id="{13A4E439-02DF-499A-A1A7-6958192070CD}" type="datetimeFigureOut">
              <a:rPr lang="es-AR" smtClean="0"/>
              <a:pPr/>
              <a:t>19/4/2019</a:t>
            </a:fld>
            <a:endParaRPr lang="es-AR"/>
          </a:p>
        </p:txBody>
      </p:sp>
      <p:sp>
        <p:nvSpPr>
          <p:cNvPr id="6" name="5 Marcador de pie de página"/>
          <p:cNvSpPr>
            <a:spLocks noGrp="1"/>
          </p:cNvSpPr>
          <p:nvPr>
            <p:ph type="ftr" sz="quarter" idx="11"/>
          </p:nvPr>
        </p:nvSpPr>
        <p:spPr>
          <a:xfrm>
            <a:off x="301752" y="6410848"/>
            <a:ext cx="3584448" cy="365760"/>
          </a:xfrm>
        </p:spPr>
        <p:txBody>
          <a:bodyPr/>
          <a:lstStyle/>
          <a:p>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E4CB56CF-BD53-4841-9DAB-200E126729B3}" type="slidenum">
              <a:rPr lang="es-AR" smtClean="0"/>
              <a:pPr/>
              <a:t>‹Nº›</a:t>
            </a:fld>
            <a:endParaRPr lang="es-AR"/>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bg>
      <p:bgRef idx="1001">
        <a:schemeClr val="bg2"/>
      </p:bgRef>
    </p:bg>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7 Rectángulo"/>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9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10 Rectángulo"/>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11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12 Conector recto"/>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13 Elipse"/>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Elipse"/>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6915912" y="3009901"/>
            <a:ext cx="457200" cy="441325"/>
          </a:xfrm>
        </p:spPr>
        <p:txBody>
          <a:bodyPr/>
          <a:lstStyle/>
          <a:p>
            <a:fld id="{E4CB56CF-BD53-4841-9DAB-200E126729B3}" type="slidenum">
              <a:rPr lang="es-AR" smtClean="0"/>
              <a:pPr/>
              <a:t>‹Nº›</a:t>
            </a:fld>
            <a:endParaRPr lang="es-AR"/>
          </a:p>
        </p:txBody>
      </p:sp>
      <p:sp>
        <p:nvSpPr>
          <p:cNvPr id="3" name="2 Marcador de texto vertical"/>
          <p:cNvSpPr>
            <a:spLocks noGrp="1"/>
          </p:cNvSpPr>
          <p:nvPr>
            <p:ph type="body" orient="vert" idx="1"/>
          </p:nvPr>
        </p:nvSpPr>
        <p:spPr>
          <a:xfrm>
            <a:off x="304800" y="304800"/>
            <a:ext cx="6553200" cy="5821366"/>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13A4E439-02DF-499A-A1A7-6958192070CD}" type="datetimeFigureOut">
              <a:rPr lang="es-AR" smtClean="0"/>
              <a:pPr/>
              <a:t>19/4/2019</a:t>
            </a:fld>
            <a:endParaRPr lang="es-AR"/>
          </a:p>
        </p:txBody>
      </p:sp>
      <p:sp>
        <p:nvSpPr>
          <p:cNvPr id="5" name="4 Marcador de pie de página"/>
          <p:cNvSpPr>
            <a:spLocks noGrp="1"/>
          </p:cNvSpPr>
          <p:nvPr>
            <p:ph type="ftr" sz="quarter" idx="11"/>
          </p:nvPr>
        </p:nvSpPr>
        <p:spPr/>
        <p:txBody>
          <a:bodyPr/>
          <a:lstStyle/>
          <a:p>
            <a:endParaRPr lang="es-AR"/>
          </a:p>
        </p:txBody>
      </p:sp>
      <p:sp>
        <p:nvSpPr>
          <p:cNvPr id="2" name="1 Título vertical"/>
          <p:cNvSpPr>
            <a:spLocks noGrp="1"/>
          </p:cNvSpPr>
          <p:nvPr>
            <p:ph type="title" orient="vert"/>
          </p:nvPr>
        </p:nvSpPr>
        <p:spPr>
          <a:xfrm>
            <a:off x="7391400" y="304801"/>
            <a:ext cx="1447800" cy="5851525"/>
          </a:xfrm>
        </p:spPr>
        <p:txBody>
          <a:bodyPr vert="eaVert"/>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15 Rectángulo"/>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17 Rectángulo"/>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18 Rectángulo"/>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8 Rectángulo"/>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13 Marcador de fecha"/>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3A4E439-02DF-499A-A1A7-6958192070CD}" type="datetimeFigureOut">
              <a:rPr lang="es-AR" smtClean="0"/>
              <a:pPr/>
              <a:t>19/4/2019</a:t>
            </a:fld>
            <a:endParaRPr lang="es-AR"/>
          </a:p>
        </p:txBody>
      </p:sp>
      <p:sp>
        <p:nvSpPr>
          <p:cNvPr id="3" name="2 Marcador de pie de página"/>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s-AR"/>
          </a:p>
        </p:txBody>
      </p:sp>
      <p:sp>
        <p:nvSpPr>
          <p:cNvPr id="8" name="7 Rectángulo"/>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9 Conector recto"/>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11 Elipse"/>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14 Elipse"/>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22 Marcador de número de diapositiva"/>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E4CB56CF-BD53-4841-9DAB-200E126729B3}" type="slidenum">
              <a:rPr lang="es-AR" smtClean="0"/>
              <a:pPr/>
              <a:t>‹Nº›</a:t>
            </a:fld>
            <a:endParaRPr lang="es-AR"/>
          </a:p>
        </p:txBody>
      </p:sp>
      <p:sp>
        <p:nvSpPr>
          <p:cNvPr id="22" name="21 Marcador de título"/>
          <p:cNvSpPr>
            <a:spLocks noGrp="1"/>
          </p:cNvSpPr>
          <p:nvPr>
            <p:ph type="title"/>
          </p:nvPr>
        </p:nvSpPr>
        <p:spPr>
          <a:xfrm>
            <a:off x="301752" y="228600"/>
            <a:ext cx="8534400" cy="758952"/>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1371600" y="2819400"/>
            <a:ext cx="6400800" cy="3057872"/>
          </a:xfrm>
        </p:spPr>
        <p:txBody>
          <a:bodyPr>
            <a:normAutofit/>
          </a:bodyPr>
          <a:lstStyle/>
          <a:p>
            <a:pPr algn="just"/>
            <a:r>
              <a:rPr lang="es-AR" sz="1400" b="0" dirty="0" smtClean="0"/>
              <a:t>Si las vibraciones sonoras (</a:t>
            </a:r>
            <a:r>
              <a:rPr lang="es-AR" sz="1400" b="0" i="1" dirty="0" smtClean="0"/>
              <a:t>señales acústicas</a:t>
            </a:r>
            <a:r>
              <a:rPr lang="es-AR" sz="1400" b="0" dirty="0" smtClean="0"/>
              <a:t>) se transforman con el micrófono en electricidad (</a:t>
            </a:r>
            <a:r>
              <a:rPr lang="es-AR" sz="1400" b="0" i="1" dirty="0" smtClean="0"/>
              <a:t>señales eléctricas</a:t>
            </a:r>
            <a:r>
              <a:rPr lang="es-AR" sz="1400" b="0" dirty="0" smtClean="0"/>
              <a:t>), el altavoz hace el trabajo inverso: transforma la electricidad en sonido. Es fácil deducir, entonces, que el funcionamiento de ambos aparatos es muy similar. Los dos se construyen aprovechando los principios del electromagnetismo. El altavoz no es más que una bobina alrededor de un imán que, al recibir una corriente eléctrica, mueve una membrana que genera ondas sonoras</a:t>
            </a:r>
            <a:endParaRPr lang="es-AR" sz="1400" dirty="0"/>
          </a:p>
        </p:txBody>
      </p:sp>
      <p:sp>
        <p:nvSpPr>
          <p:cNvPr id="2" name="1 Título"/>
          <p:cNvSpPr>
            <a:spLocks noGrp="1"/>
          </p:cNvSpPr>
          <p:nvPr>
            <p:ph type="ctrTitle"/>
          </p:nvPr>
        </p:nvSpPr>
        <p:spPr>
          <a:xfrm>
            <a:off x="685800" y="476672"/>
            <a:ext cx="7772400" cy="1008856"/>
          </a:xfrm>
        </p:spPr>
        <p:txBody>
          <a:bodyPr/>
          <a:lstStyle/>
          <a:p>
            <a:r>
              <a:rPr lang="es-AR" dirty="0" smtClean="0"/>
              <a:t>Altavoces o Parlantes</a:t>
            </a:r>
            <a:endParaRPr lang="es-A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Vistas de un altavoz</a:t>
            </a:r>
            <a:endParaRPr lang="es-AR" dirty="0"/>
          </a:p>
        </p:txBody>
      </p:sp>
      <p:pic>
        <p:nvPicPr>
          <p:cNvPr id="4" name="3 Marcador de contenido" descr="162.jpg"/>
          <p:cNvPicPr>
            <a:picLocks noGrp="1" noChangeAspect="1"/>
          </p:cNvPicPr>
          <p:nvPr>
            <p:ph sz="quarter" idx="1"/>
          </p:nvPr>
        </p:nvPicPr>
        <p:blipFill>
          <a:blip r:embed="rId2" cstate="print"/>
          <a:stretch>
            <a:fillRect/>
          </a:stretch>
        </p:blipFill>
        <p:spPr>
          <a:xfrm>
            <a:off x="323528" y="1916832"/>
            <a:ext cx="8417680" cy="3744416"/>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Descripción </a:t>
            </a:r>
            <a:endParaRPr lang="es-AR" dirty="0"/>
          </a:p>
        </p:txBody>
      </p:sp>
      <p:pic>
        <p:nvPicPr>
          <p:cNvPr id="4" name="3 Marcador de contenido" descr="44.AltavozAnimado.gif"/>
          <p:cNvPicPr>
            <a:picLocks noGrp="1" noChangeAspect="1"/>
          </p:cNvPicPr>
          <p:nvPr>
            <p:ph sz="quarter" idx="1"/>
          </p:nvPr>
        </p:nvPicPr>
        <p:blipFill>
          <a:blip r:embed="rId2" cstate="print"/>
          <a:stretch>
            <a:fillRect/>
          </a:stretch>
        </p:blipFill>
        <p:spPr>
          <a:xfrm>
            <a:off x="1331640" y="1772816"/>
            <a:ext cx="6809592" cy="4248472"/>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Conexión entre altavoces</a:t>
            </a:r>
            <a:endParaRPr lang="es-AR" dirty="0"/>
          </a:p>
        </p:txBody>
      </p:sp>
      <p:pic>
        <p:nvPicPr>
          <p:cNvPr id="4" name="3 Marcador de contenido" descr="163.jpg"/>
          <p:cNvPicPr>
            <a:picLocks noGrp="1" noChangeAspect="1"/>
          </p:cNvPicPr>
          <p:nvPr>
            <p:ph sz="quarter" idx="1"/>
          </p:nvPr>
        </p:nvPicPr>
        <p:blipFill>
          <a:blip r:embed="rId2" cstate="print"/>
          <a:stretch>
            <a:fillRect/>
          </a:stretch>
        </p:blipFill>
        <p:spPr>
          <a:xfrm>
            <a:off x="602446" y="1844824"/>
            <a:ext cx="7929994" cy="4176464"/>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Potencia</a:t>
            </a:r>
            <a:endParaRPr lang="es-AR" dirty="0"/>
          </a:p>
        </p:txBody>
      </p:sp>
      <p:sp>
        <p:nvSpPr>
          <p:cNvPr id="4" name="3 Marcador de contenido"/>
          <p:cNvSpPr>
            <a:spLocks noGrp="1"/>
          </p:cNvSpPr>
          <p:nvPr>
            <p:ph sz="quarter" idx="1"/>
          </p:nvPr>
        </p:nvSpPr>
        <p:spPr>
          <a:xfrm>
            <a:off x="251520" y="1628800"/>
            <a:ext cx="4198240" cy="4608512"/>
          </a:xfrm>
        </p:spPr>
        <p:txBody>
          <a:bodyPr>
            <a:normAutofit fontScale="62500" lnSpcReduction="20000"/>
          </a:bodyPr>
          <a:lstStyle/>
          <a:p>
            <a:endParaRPr lang="es-AR" b="1" dirty="0" smtClean="0"/>
          </a:p>
          <a:p>
            <a:pPr algn="just">
              <a:buNone/>
            </a:pPr>
            <a:r>
              <a:rPr lang="es-AR" dirty="0" smtClean="0"/>
              <a:t>	Los </a:t>
            </a:r>
            <a:r>
              <a:rPr lang="es-AR" dirty="0" smtClean="0"/>
              <a:t>altavoces tienen dos tipos de potencias. Ambas vienen expresadas en Watts. Una es la de </a:t>
            </a:r>
            <a:r>
              <a:rPr lang="es-AR" i="1" dirty="0" smtClean="0"/>
              <a:t>pico, </a:t>
            </a:r>
            <a:r>
              <a:rPr lang="es-AR" dirty="0" smtClean="0"/>
              <a:t>potencia máxima que en un momento puede soportar un altavoz sin dañarse. La otra es la </a:t>
            </a:r>
            <a:r>
              <a:rPr lang="es-AR" i="1" dirty="0" smtClean="0"/>
              <a:t>nominal</a:t>
            </a:r>
            <a:r>
              <a:rPr lang="es-AR" dirty="0" smtClean="0"/>
              <a:t> o </a:t>
            </a:r>
            <a:r>
              <a:rPr lang="es-AR" i="1" dirty="0" smtClean="0"/>
              <a:t>RMS</a:t>
            </a:r>
            <a:r>
              <a:rPr lang="es-AR" dirty="0" smtClean="0"/>
              <a:t>, potencia que el altavoz puede recibir para su funcionamiento normal de forma constante</a:t>
            </a:r>
            <a:r>
              <a:rPr lang="es-AR" dirty="0" smtClean="0"/>
              <a:t>.</a:t>
            </a:r>
          </a:p>
          <a:p>
            <a:pPr algn="just">
              <a:buNone/>
            </a:pPr>
            <a:endParaRPr lang="es-AR" dirty="0" smtClean="0"/>
          </a:p>
          <a:p>
            <a:pPr algn="just">
              <a:buNone/>
            </a:pPr>
            <a:r>
              <a:rPr lang="es-AR" dirty="0" smtClean="0"/>
              <a:t>     A </a:t>
            </a:r>
            <a:r>
              <a:rPr lang="es-AR" dirty="0" smtClean="0"/>
              <a:t>la hora de comprar un altavoz, debemos informarnos bien de la potencia que soportan. Si aguantan 150W de </a:t>
            </a:r>
            <a:r>
              <a:rPr lang="es-AR" i="1" dirty="0" smtClean="0"/>
              <a:t>pico</a:t>
            </a:r>
            <a:r>
              <a:rPr lang="es-AR" dirty="0" smtClean="0"/>
              <a:t>, significa que podrán recibir en un instante esa potencia, pero no </a:t>
            </a:r>
            <a:r>
              <a:rPr lang="es-AR" dirty="0" smtClean="0"/>
              <a:t>continuamente. </a:t>
            </a:r>
          </a:p>
          <a:p>
            <a:pPr algn="just">
              <a:buNone/>
            </a:pPr>
            <a:r>
              <a:rPr lang="es-AR" dirty="0" smtClean="0"/>
              <a:t> </a:t>
            </a:r>
            <a:r>
              <a:rPr lang="es-AR" dirty="0" smtClean="0"/>
              <a:t>   </a:t>
            </a:r>
            <a:endParaRPr lang="es-AR" dirty="0" smtClean="0"/>
          </a:p>
          <a:p>
            <a:endParaRPr lang="es-AR" dirty="0"/>
          </a:p>
        </p:txBody>
      </p:sp>
      <p:pic>
        <p:nvPicPr>
          <p:cNvPr id="5" name="3 Marcador de contenido" descr="descarga (1).jpg"/>
          <p:cNvPicPr>
            <a:picLocks noChangeAspect="1"/>
          </p:cNvPicPr>
          <p:nvPr/>
        </p:nvPicPr>
        <p:blipFill>
          <a:blip r:embed="rId2" cstate="print"/>
          <a:stretch>
            <a:fillRect/>
          </a:stretch>
        </p:blipFill>
        <p:spPr>
          <a:xfrm>
            <a:off x="4644008" y="1772816"/>
            <a:ext cx="3672409" cy="37444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Diseños</a:t>
            </a:r>
            <a:endParaRPr lang="es-AR" dirty="0"/>
          </a:p>
        </p:txBody>
      </p:sp>
      <p:pic>
        <p:nvPicPr>
          <p:cNvPr id="5" name="4 Imagen" descr="descarga.jpg"/>
          <p:cNvPicPr>
            <a:picLocks noChangeAspect="1"/>
          </p:cNvPicPr>
          <p:nvPr/>
        </p:nvPicPr>
        <p:blipFill>
          <a:blip r:embed="rId2" cstate="print"/>
          <a:stretch>
            <a:fillRect/>
          </a:stretch>
        </p:blipFill>
        <p:spPr>
          <a:xfrm>
            <a:off x="4932040" y="1916832"/>
            <a:ext cx="3722260" cy="3456384"/>
          </a:xfrm>
          <a:prstGeom prst="rect">
            <a:avLst/>
          </a:prstGeom>
        </p:spPr>
      </p:pic>
      <p:sp>
        <p:nvSpPr>
          <p:cNvPr id="6" name="5 Rectángulo"/>
          <p:cNvSpPr/>
          <p:nvPr/>
        </p:nvSpPr>
        <p:spPr>
          <a:xfrm>
            <a:off x="251520" y="1916832"/>
            <a:ext cx="4464496" cy="2880320"/>
          </a:xfrm>
          <a:prstGeom prst="rect">
            <a:avLst/>
          </a:prstGeom>
        </p:spPr>
        <p:txBody>
          <a:bodyPr wrap="square">
            <a:spAutoFit/>
          </a:bodyPr>
          <a:lstStyle/>
          <a:p>
            <a:pPr algn="just"/>
            <a:r>
              <a:rPr lang="es-AR" dirty="0" smtClean="0"/>
              <a:t>Este valor está muy ligado a la potencia del </a:t>
            </a:r>
            <a:r>
              <a:rPr lang="es-AR" i="1" dirty="0" smtClean="0"/>
              <a:t>amplificador</a:t>
            </a:r>
            <a:r>
              <a:rPr lang="es-AR" dirty="0" smtClean="0"/>
              <a:t> que tengamos. No es conveniente comprar un amplificador con más Watts de los que soporta el altavoz. Por ejemplo, al unir un amplificador de 300W con altavoces de 150W, el resultado puede ser de altavoces dañados por exceso de potencia.</a:t>
            </a:r>
            <a:r>
              <a:rPr lang="es-AR" i="1" dirty="0" smtClean="0"/>
              <a:t> (Hay preguntas del consultorio que comentan y aclaran este punto</a:t>
            </a:r>
            <a:r>
              <a:rPr lang="es-AR" i="1" dirty="0" smtClean="0"/>
              <a:t>).</a:t>
            </a:r>
            <a:endParaRPr lang="es-A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Conexión con </a:t>
            </a:r>
            <a:r>
              <a:rPr lang="es-AR" dirty="0" err="1" smtClean="0"/>
              <a:t>Arduino</a:t>
            </a:r>
            <a:endParaRPr lang="es-AR" dirty="0"/>
          </a:p>
        </p:txBody>
      </p:sp>
      <p:pic>
        <p:nvPicPr>
          <p:cNvPr id="4" name="3 Marcador de contenido" descr="Conexion speak.png"/>
          <p:cNvPicPr>
            <a:picLocks noGrp="1" noChangeAspect="1"/>
          </p:cNvPicPr>
          <p:nvPr>
            <p:ph sz="quarter" idx="1"/>
          </p:nvPr>
        </p:nvPicPr>
        <p:blipFill>
          <a:blip r:embed="rId2" cstate="print"/>
          <a:stretch>
            <a:fillRect/>
          </a:stretch>
        </p:blipFill>
        <p:spPr>
          <a:xfrm>
            <a:off x="2267744" y="1628801"/>
            <a:ext cx="4608512" cy="4464496"/>
          </a:xfr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146</TotalTime>
  <Words>110</Words>
  <Application>Microsoft Office PowerPoint</Application>
  <PresentationFormat>Presentación en pantalla (4:3)</PresentationFormat>
  <Paragraphs>14</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Civil</vt:lpstr>
      <vt:lpstr>Altavoces o Parlantes</vt:lpstr>
      <vt:lpstr>Vistas de un altavoz</vt:lpstr>
      <vt:lpstr>Descripción </vt:lpstr>
      <vt:lpstr>Conexión entre altavoces</vt:lpstr>
      <vt:lpstr>Potencia</vt:lpstr>
      <vt:lpstr>Diseños</vt:lpstr>
      <vt:lpstr>Conexión con Arduino</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Sergio Contreras</dc:creator>
  <cp:lastModifiedBy>Sergio Contreras</cp:lastModifiedBy>
  <cp:revision>15</cp:revision>
  <dcterms:created xsi:type="dcterms:W3CDTF">2019-04-19T17:41:02Z</dcterms:created>
  <dcterms:modified xsi:type="dcterms:W3CDTF">2019-04-19T23:16:45Z</dcterms:modified>
</cp:coreProperties>
</file>